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8" r:id="rId7"/>
    <p:sldId id="269" r:id="rId8"/>
    <p:sldId id="272" r:id="rId9"/>
    <p:sldId id="271" r:id="rId10"/>
    <p:sldId id="260" r:id="rId11"/>
    <p:sldId id="261" r:id="rId12"/>
    <p:sldId id="262" r:id="rId13"/>
    <p:sldId id="263" r:id="rId14"/>
    <p:sldId id="264" r:id="rId15"/>
    <p:sldId id="265" r:id="rId16"/>
    <p:sldId id="273" r:id="rId17"/>
    <p:sldId id="274" r:id="rId18"/>
    <p:sldId id="266" r:id="rId19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tableStyles" Target="tableStyle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06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0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0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">
  <p:cSld name="Титульный слайд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145730" name="Straight Connector 31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1" name="Straight Connector 20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60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5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6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7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8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9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10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11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4861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dirty="0" lang="en-US"/>
          </a:p>
        </p:txBody>
      </p:sp>
      <p:sp>
        <p:nvSpPr>
          <p:cNvPr id="104861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algn="r" indent="0" marL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dirty="0" lang="en-US"/>
          </a:p>
        </p:txBody>
      </p:sp>
      <p:sp>
        <p:nvSpPr>
          <p:cNvPr id="104861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7C1CB0-A68E-435F-B057-91B7E9D7E0F8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104861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C9197-F69A-4819-AB63-A19F6811DEC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Заголовок и объект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dirty="0" lang="en-US"/>
          </a:p>
        </p:txBody>
      </p:sp>
      <p:sp>
        <p:nvSpPr>
          <p:cNvPr id="104859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 lang="en-US"/>
          </a:p>
        </p:txBody>
      </p:sp>
      <p:sp>
        <p:nvSpPr>
          <p:cNvPr id="10485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7C1CB0-A68E-435F-B057-91B7E9D7E0F8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10485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5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C9197-F69A-4819-AB63-A19F6811DEC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Заголовок раздела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b="0" cap="none" sz="4000"/>
            </a:lvl1pPr>
          </a:lstStyle>
          <a:p>
            <a:r>
              <a:rPr lang="ru-RU" smtClean="0"/>
              <a:t>Образец заголовка</a:t>
            </a:r>
            <a:endParaRPr dirty="0" lang="en-US"/>
          </a:p>
        </p:txBody>
      </p:sp>
      <p:sp>
        <p:nvSpPr>
          <p:cNvPr id="1048656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algn="l" indent="0" marL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65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7C1CB0-A68E-435F-B057-91B7E9D7E0F8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104865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5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C9197-F69A-4819-AB63-A19F6811DEC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Два объекта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smtClean="0"/>
              <a:t>Образец заголовка</a:t>
            </a:r>
            <a:endParaRPr dirty="0" lang="en-US"/>
          </a:p>
        </p:txBody>
      </p:sp>
      <p:sp>
        <p:nvSpPr>
          <p:cNvPr id="1048682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 lang="en-US"/>
          </a:p>
        </p:txBody>
      </p:sp>
      <p:sp>
        <p:nvSpPr>
          <p:cNvPr id="1048683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 lang="en-US"/>
          </a:p>
        </p:txBody>
      </p:sp>
      <p:sp>
        <p:nvSpPr>
          <p:cNvPr id="104868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7C1CB0-A68E-435F-B057-91B7E9D7E0F8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104868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8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C9197-F69A-4819-AB63-A19F6811DEC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Сравнение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smtClean="0"/>
              <a:t>Образец заголовка</a:t>
            </a:r>
            <a:endParaRPr dirty="0" lang="en-US"/>
          </a:p>
        </p:txBody>
      </p:sp>
      <p:sp>
        <p:nvSpPr>
          <p:cNvPr id="1048661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662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 lang="en-US"/>
          </a:p>
        </p:txBody>
      </p:sp>
      <p:sp>
        <p:nvSpPr>
          <p:cNvPr id="104866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664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 lang="en-US"/>
          </a:p>
        </p:txBody>
      </p:sp>
      <p:sp>
        <p:nvSpPr>
          <p:cNvPr id="104866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7C1CB0-A68E-435F-B057-91B7E9D7E0F8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104866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6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C9197-F69A-4819-AB63-A19F6811DEC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Только заголовок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p>
            <a:r>
              <a:rPr lang="ru-RU" smtClean="0"/>
              <a:t>Образец заголовка</a:t>
            </a:r>
            <a:endParaRPr dirty="0" lang="en-US"/>
          </a:p>
        </p:txBody>
      </p:sp>
      <p:sp>
        <p:nvSpPr>
          <p:cNvPr id="104862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7C1CB0-A68E-435F-B057-91B7E9D7E0F8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104862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2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C9197-F69A-4819-AB63-A19F6811DEC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Пустой слайд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7C1CB0-A68E-435F-B057-91B7E9D7E0F8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104866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7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C9197-F69A-4819-AB63-A19F6811DEC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Объект с подписью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dirty="0" lang="en-US"/>
          </a:p>
        </p:txBody>
      </p:sp>
      <p:sp>
        <p:nvSpPr>
          <p:cNvPr id="1048694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 lang="en-US"/>
          </a:p>
        </p:txBody>
      </p:sp>
      <p:sp>
        <p:nvSpPr>
          <p:cNvPr id="1048695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indent="0" marL="0">
              <a:buNone/>
              <a:defRPr sz="1400"/>
            </a:lvl1pPr>
            <a:lvl2pPr indent="0" marL="457063">
              <a:buNone/>
              <a:defRPr sz="1400"/>
            </a:lvl2pPr>
            <a:lvl3pPr indent="0" marL="914126">
              <a:buNone/>
              <a:defRPr sz="1200"/>
            </a:lvl3pPr>
            <a:lvl4pPr indent="0" marL="1371189">
              <a:buNone/>
              <a:defRPr sz="1000"/>
            </a:lvl4pPr>
            <a:lvl5pPr indent="0" marL="1828251">
              <a:buNone/>
              <a:defRPr sz="1000"/>
            </a:lvl5pPr>
            <a:lvl6pPr indent="0" marL="2285314">
              <a:buNone/>
              <a:defRPr sz="1000"/>
            </a:lvl6pPr>
            <a:lvl7pPr indent="0" marL="2742377">
              <a:buNone/>
              <a:defRPr sz="1000"/>
            </a:lvl7pPr>
            <a:lvl8pPr indent="0" marL="3199440">
              <a:buNone/>
              <a:defRPr sz="1000"/>
            </a:lvl8pPr>
            <a:lvl9pPr indent="0" marL="3656503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69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7C1CB0-A68E-435F-B057-91B7E9D7E0F8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104869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9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C9197-F69A-4819-AB63-A19F6811DEC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Рисунок с подписью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b="0" sz="2400"/>
            </a:lvl1pPr>
          </a:lstStyle>
          <a:p>
            <a:r>
              <a:rPr lang="ru-RU" smtClean="0"/>
              <a:t>Образец заголовка</a:t>
            </a:r>
            <a:endParaRPr dirty="0" lang="en-US"/>
          </a:p>
        </p:txBody>
      </p:sp>
      <p:sp>
        <p:nvSpPr>
          <p:cNvPr id="1048645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600"/>
            </a:lvl2pPr>
            <a:lvl3pPr indent="0" marL="914400">
              <a:buNone/>
              <a:defRPr sz="16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dirty="0" lang="en-US"/>
          </a:p>
        </p:txBody>
      </p:sp>
      <p:sp>
        <p:nvSpPr>
          <p:cNvPr id="1048646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indent="0" marL="0">
              <a:buNone/>
              <a:defRPr sz="12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64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7C1CB0-A68E-435F-B057-91B7E9D7E0F8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104864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4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C9197-F69A-4819-AB63-A19F6811DEC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ru-RU" smtClean="0"/>
              <a:t>Образец заголовка</a:t>
            </a:r>
            <a:endParaRPr dirty="0" lang="en-US"/>
          </a:p>
        </p:txBody>
      </p:sp>
      <p:sp>
        <p:nvSpPr>
          <p:cNvPr id="1048677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67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7C1CB0-A68E-435F-B057-91B7E9D7E0F8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104867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8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C9197-F69A-4819-AB63-A19F6811DEC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ru-RU" smtClean="0"/>
              <a:t>Образец заголовка</a:t>
            </a:r>
            <a:endParaRPr dirty="0" lang="en-US"/>
          </a:p>
        </p:txBody>
      </p:sp>
      <p:sp>
        <p:nvSpPr>
          <p:cNvPr id="104863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indent="0" marL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638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6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7C1CB0-A68E-435F-B057-91B7E9D7E0F8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10486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C9197-F69A-4819-AB63-A19F6811DEC9}" type="slidenum">
              <a:rPr lang="ru-RU" smtClean="0"/>
              <a:t>‹#›</a:t>
            </a:fld>
            <a:endParaRPr lang="ru-RU"/>
          </a:p>
        </p:txBody>
      </p:sp>
      <p:sp>
        <p:nvSpPr>
          <p:cNvPr id="1048642" name="TextBox 19"/>
          <p:cNvSpPr txBox="1"/>
          <p:nvPr/>
        </p:nvSpPr>
        <p:spPr>
          <a:xfrm>
            <a:off x="541870" y="790378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43" name="TextBox 21"/>
          <p:cNvSpPr txBox="1"/>
          <p:nvPr/>
        </p:nvSpPr>
        <p:spPr>
          <a:xfrm>
            <a:off x="8893011" y="2886556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dirty="0"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b="0" cap="none" sz="4400"/>
            </a:lvl1pPr>
          </a:lstStyle>
          <a:p>
            <a:r>
              <a:rPr lang="ru-RU" smtClean="0"/>
              <a:t>Образец заголовка</a:t>
            </a:r>
            <a:endParaRPr dirty="0" lang="en-US"/>
          </a:p>
        </p:txBody>
      </p:sp>
      <p:sp>
        <p:nvSpPr>
          <p:cNvPr id="1048672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67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7C1CB0-A68E-435F-B057-91B7E9D7E0F8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104867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7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C9197-F69A-4819-AB63-A19F6811DEC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ru-RU" smtClean="0"/>
              <a:t>Образец заголовка</a:t>
            </a:r>
            <a:endParaRPr dirty="0" lang="en-US"/>
          </a:p>
        </p:txBody>
      </p:sp>
      <p:sp>
        <p:nvSpPr>
          <p:cNvPr id="104862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indent="0" marL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630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6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7C1CB0-A68E-435F-B057-91B7E9D7E0F8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10486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C9197-F69A-4819-AB63-A19F6811DEC9}" type="slidenum">
              <a:rPr lang="ru-RU" smtClean="0"/>
              <a:t>‹#›</a:t>
            </a:fld>
            <a:endParaRPr lang="ru-RU"/>
          </a:p>
        </p:txBody>
      </p:sp>
      <p:sp>
        <p:nvSpPr>
          <p:cNvPr id="1048634" name="TextBox 23"/>
          <p:cNvSpPr txBox="1"/>
          <p:nvPr/>
        </p:nvSpPr>
        <p:spPr>
          <a:xfrm>
            <a:off x="541870" y="790378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35" name="TextBox 24"/>
          <p:cNvSpPr txBox="1"/>
          <p:nvPr/>
        </p:nvSpPr>
        <p:spPr>
          <a:xfrm>
            <a:off x="8893011" y="2886556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ru-RU" smtClean="0"/>
              <a:t>Образец заголовка</a:t>
            </a:r>
            <a:endParaRPr dirty="0" lang="en-US"/>
          </a:p>
        </p:txBody>
      </p:sp>
      <p:sp>
        <p:nvSpPr>
          <p:cNvPr id="1048688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indent="0" marL="0">
              <a:buFontTx/>
              <a:buNone/>
              <a:defRPr sz="2400">
                <a:solidFill>
                  <a:schemeClr val="accent1"/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689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6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7C1CB0-A68E-435F-B057-91B7E9D7E0F8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10486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C9197-F69A-4819-AB63-A19F6811DEC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Заголовок и вертикальный текст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smtClean="0"/>
              <a:t>Образец заголовка</a:t>
            </a:r>
            <a:endParaRPr dirty="0" lang="en-US"/>
          </a:p>
        </p:txBody>
      </p:sp>
      <p:sp>
        <p:nvSpPr>
          <p:cNvPr id="104865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 lang="en-US"/>
          </a:p>
        </p:txBody>
      </p:sp>
      <p:sp>
        <p:nvSpPr>
          <p:cNvPr id="104865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7C1CB0-A68E-435F-B057-91B7E9D7E0F8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104865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5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C9197-F69A-4819-AB63-A19F6811DEC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Вертикальный заголовок и текст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anchor="ctr" vert="eaVert"/>
          <a:p>
            <a:r>
              <a:rPr lang="ru-RU" smtClean="0"/>
              <a:t>Образец заголовка</a:t>
            </a:r>
            <a:endParaRPr dirty="0" lang="en-US"/>
          </a:p>
        </p:txBody>
      </p:sp>
      <p:sp>
        <p:nvSpPr>
          <p:cNvPr id="104870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 lang="en-US"/>
          </a:p>
        </p:txBody>
      </p:sp>
      <p:sp>
        <p:nvSpPr>
          <p:cNvPr id="104870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7C1CB0-A68E-435F-B057-91B7E9D7E0F8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104870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70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C9197-F69A-4819-AB63-A19F6811DEC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145728" name="Straight Connector 19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29" name="Straight Connector 20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576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7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8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9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0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1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2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3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48584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/>
        </p:spPr>
        <p:txBody>
          <a:bodyPr anchor="t" bIns="45720" lIns="91440" rIns="91440" rtlCol="0" tIns="45720" vert="horz">
            <a:normAutofit/>
          </a:bodyPr>
          <a:p>
            <a:r>
              <a:rPr lang="ru-RU" smtClean="0"/>
              <a:t>Образец заголовка</a:t>
            </a:r>
            <a:endParaRPr dirty="0" lang="en-US"/>
          </a:p>
        </p:txBody>
      </p:sp>
      <p:sp>
        <p:nvSpPr>
          <p:cNvPr id="1048585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 lang="en-US"/>
          </a:p>
        </p:txBody>
      </p:sp>
      <p:sp>
        <p:nvSpPr>
          <p:cNvPr id="1048586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C1CB0-A68E-435F-B057-91B7E9D7E0F8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104858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4858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32C9197-F69A-4819-AB63-A19F6811DEC9}" type="slidenum">
              <a:rPr lang="ru-RU" smtClean="0"/>
              <a:t>‹#›</a:t>
            </a:fld>
            <a:endParaRPr lang="ru-RU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eaLnBrk="1" hangingPunct="1" latinLnBrk="0" rtl="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eaLnBrk="1" hangingPunct="1" indent="-342900" latinLnBrk="0" marL="3429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dirty="0" lang="ru-RU" err="1"/>
              <a:t>Электромиографическое</a:t>
            </a:r>
            <a:r>
              <a:rPr dirty="0" lang="ru-RU"/>
              <a:t> исследование состояния </a:t>
            </a:r>
            <a:r>
              <a:rPr dirty="0" lang="ru-RU" smtClean="0"/>
              <a:t>мышц(Кто сильнее)</a:t>
            </a:r>
            <a:endParaRPr dirty="0" lang="ru-RU"/>
          </a:p>
        </p:txBody>
      </p:sp>
      <p:sp>
        <p:nvSpPr>
          <p:cNvPr id="1048618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dirty="0" lang="ru-RU"/>
          </a:p>
        </p:txBody>
      </p:sp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dirty="0" lang="ru-RU" smtClean="0"/>
              <a:t>Актуальность</a:t>
            </a:r>
            <a:endParaRPr dirty="0" lang="ru-RU"/>
          </a:p>
        </p:txBody>
      </p:sp>
      <p:sp>
        <p:nvSpPr>
          <p:cNvPr id="1048602" name="Объект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ru-RU"/>
              <a:t>В современном обществе все больше подростков страдает от недостатка физической активности, проводя много времени перед экранами и ведя сидячий образ жизни. Это может приводить к слабости мышц, снижению выносливости и развитию различных компликаций. Исследование состояния мышц подростков поможет выделить группы риска и разработать программы физической активности, способствующие оптимальному развитию мышц и улучшению общего физического состояния.</a:t>
            </a:r>
            <a:endParaRPr dirty="0" lang="ru-RU"/>
          </a:p>
        </p:txBody>
      </p: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ru-RU" smtClean="0"/>
              <a:t>Цели:</a:t>
            </a:r>
            <a:br>
              <a:rPr dirty="0" lang="ru-RU" smtClean="0"/>
            </a:br>
            <a:endParaRPr dirty="0" lang="ru-RU"/>
          </a:p>
        </p:txBody>
      </p:sp>
      <p:sp>
        <p:nvSpPr>
          <p:cNvPr id="1048599" name="Объект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ru-RU" smtClean="0"/>
              <a:t>1.Ознакомиться </a:t>
            </a:r>
            <a:r>
              <a:rPr dirty="0" lang="ru-RU"/>
              <a:t>с программой "</a:t>
            </a:r>
            <a:r>
              <a:rPr dirty="0" lang="ru-RU" err="1"/>
              <a:t>Бослаб</a:t>
            </a:r>
            <a:r>
              <a:rPr dirty="0" lang="ru-RU"/>
              <a:t>" и изучить ее основные </a:t>
            </a:r>
            <a:r>
              <a:rPr dirty="0" lang="ru-RU" smtClean="0"/>
              <a:t>возможности</a:t>
            </a:r>
          </a:p>
          <a:p>
            <a:r>
              <a:rPr dirty="0" lang="ru-RU" smtClean="0"/>
              <a:t>2. </a:t>
            </a:r>
            <a:r>
              <a:rPr dirty="0" lang="ru-RU"/>
              <a:t>Провести тестирование программы для определения ее эффективности.</a:t>
            </a:r>
          </a:p>
          <a:p>
            <a:r>
              <a:rPr dirty="0" lang="ru-RU" smtClean="0"/>
              <a:t>3. </a:t>
            </a:r>
            <a:r>
              <a:rPr dirty="0" lang="ru-RU"/>
              <a:t>Провести исследование методом электромиографии (ЭМГ) с целью </a:t>
            </a:r>
            <a:r>
              <a:rPr dirty="0" lang="ru-RU" smtClean="0"/>
              <a:t>получить </a:t>
            </a:r>
            <a:r>
              <a:rPr dirty="0" lang="ru-RU"/>
              <a:t>дополнительные данные и анализировать результаты.</a:t>
            </a:r>
          </a:p>
          <a:p>
            <a:r>
              <a:rPr dirty="0" lang="ru-RU" smtClean="0"/>
              <a:t>4.Предоставить </a:t>
            </a:r>
            <a:r>
              <a:rPr dirty="0" lang="ru-RU"/>
              <a:t>рекомендации по занятиям спортом для людей, у которых уровень ЭМГ ниже среднего, чтобы помочь им достичь лучших </a:t>
            </a:r>
            <a:r>
              <a:rPr dirty="0" lang="ru-RU" smtClean="0"/>
              <a:t>результатов.</a:t>
            </a:r>
            <a:endParaRPr dirty="0" lang="ru-RU"/>
          </a:p>
        </p:txBody>
      </p:sp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dirty="0" lang="ru-RU"/>
              <a:t>Гипотеза</a:t>
            </a:r>
            <a:endParaRPr dirty="0" lang="ru-RU"/>
          </a:p>
        </p:txBody>
      </p:sp>
      <p:sp>
        <p:nvSpPr>
          <p:cNvPr id="1048595" name="Объект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ru-RU"/>
              <a:t>Предполагается, что изучение программы «</a:t>
            </a:r>
            <a:r>
              <a:rPr dirty="0" lang="ru-RU" err="1"/>
              <a:t>Бослаб</a:t>
            </a:r>
            <a:r>
              <a:rPr dirty="0" lang="ru-RU"/>
              <a:t>», проведение испытаний программы, исследование ЭМГ и предоставление рекомендаций по занятию спортом людям с нижним уровнем ЭМГ будут </a:t>
            </a:r>
            <a:r>
              <a:rPr dirty="0" lang="ru-RU" smtClean="0"/>
              <a:t>способствовать уменьшению времяпровождения в сидячем образе жизни, </a:t>
            </a:r>
            <a:r>
              <a:rPr dirty="0" lang="ru-RU"/>
              <a:t>повышению комфорта и эффективности тренировок, а также улучшению результатов физической активности у пользователей</a:t>
            </a:r>
            <a:endParaRPr dirty="0" lang="ru-RU"/>
          </a:p>
        </p:txBody>
      </p:sp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ru-RU"/>
              <a:t>Т</a:t>
            </a:r>
            <a:r>
              <a:rPr altLang="en-US" lang="ru-RU"/>
              <a:t>е</a:t>
            </a:r>
            <a:r>
              <a:rPr altLang="en-US" lang="ru-RU"/>
              <a:t>о</a:t>
            </a:r>
            <a:r>
              <a:rPr altLang="en-US" lang="ru-RU"/>
              <a:t>р</a:t>
            </a:r>
            <a:r>
              <a:rPr altLang="en-US" lang="ru-RU"/>
              <a:t>е</a:t>
            </a:r>
            <a:r>
              <a:rPr altLang="en-US" lang="ru-RU"/>
              <a:t>т</a:t>
            </a:r>
            <a:r>
              <a:rPr altLang="en-US" lang="ru-RU"/>
              <a:t>и</a:t>
            </a:r>
            <a:r>
              <a:rPr altLang="en-US" lang="ru-RU"/>
              <a:t>ч</a:t>
            </a:r>
            <a:r>
              <a:rPr altLang="en-US" lang="ru-RU"/>
              <a:t>е</a:t>
            </a:r>
            <a:r>
              <a:rPr altLang="en-US" lang="ru-RU"/>
              <a:t>с</a:t>
            </a:r>
            <a:r>
              <a:rPr altLang="en-US" lang="ru-RU"/>
              <a:t>к</a:t>
            </a:r>
            <a:r>
              <a:rPr altLang="en-US" lang="ru-RU"/>
              <a:t>а</a:t>
            </a:r>
            <a:r>
              <a:rPr altLang="en-US" lang="ru-RU"/>
              <a:t>я</a:t>
            </a:r>
            <a:r>
              <a:rPr altLang="en-US" lang="en-US"/>
              <a:t> </a:t>
            </a:r>
            <a:r>
              <a:rPr altLang="en-US" lang="ru-RU"/>
              <a:t>ч</a:t>
            </a:r>
            <a:r>
              <a:rPr altLang="en-US" lang="ru-RU"/>
              <a:t>а</a:t>
            </a:r>
            <a:r>
              <a:rPr altLang="en-US" lang="ru-RU"/>
              <a:t>с</a:t>
            </a:r>
            <a:r>
              <a:rPr altLang="en-US" lang="ru-RU"/>
              <a:t>т</a:t>
            </a:r>
            <a:r>
              <a:rPr altLang="en-US" lang="ru-RU"/>
              <a:t>ь</a:t>
            </a:r>
            <a:endParaRPr lang="ru-RU"/>
          </a:p>
        </p:txBody>
      </p:sp>
      <p:sp>
        <p:nvSpPr>
          <p:cNvPr id="1048711" name=""/>
          <p:cNvSpPr>
            <a:spLocks noGrp="1"/>
          </p:cNvSpPr>
          <p:nvPr>
            <p:ph idx="1"/>
          </p:nvPr>
        </p:nvSpPr>
        <p:spPr>
          <a:xfrm rot="21600000">
            <a:off x="678861" y="1423261"/>
            <a:ext cx="6875197" cy="4968396"/>
          </a:xfrm>
        </p:spPr>
        <p:txBody>
          <a:bodyPr>
            <a:noAutofit/>
          </a:bodyPr>
          <a:p>
            <a:r>
              <a:rPr altLang="en-US" sz="1800" lang="ru-RU"/>
              <a:t>Строение мышц у подростков:</a:t>
            </a:r>
            <a:endParaRPr sz="1600" lang="ru-RU"/>
          </a:p>
          <a:p>
            <a:r>
              <a:rPr altLang="en-US" sz="1800" lang="ru-RU"/>
              <a:t>Мышцы являются основными двигательными органами организма и состоят из мышечных волокон. Мышечные волокна объединяются в пучки и связываются с сухожилиями и костями, обеспечивая движение и поддержку тела. Существует три типа мышц - скелетные, гладкие и сердечные. В данном исследовании мы сосредоточимся на скелетных мышцах, которые отвечают за движение тела. Скелетные мышцы состоят из множества мышечных волокон, которые, в свою очередь, состоят из миофибрилл. Миофибриллы состоят из актиновых и миозиновых филаментов, которые образуют саркомеры - основные сократительные единицы мышц.</a:t>
            </a:r>
            <a:endParaRPr lang="ru-RU"/>
          </a:p>
        </p:txBody>
      </p:sp>
      <p:pic>
        <p:nvPicPr>
          <p:cNvPr id="2097157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7554058" y="1423261"/>
            <a:ext cx="4253803" cy="3423506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ru-RU"/>
              <a:t>Т</a:t>
            </a:r>
            <a:r>
              <a:rPr altLang="en-US" lang="ru-RU"/>
              <a:t>е</a:t>
            </a:r>
            <a:r>
              <a:rPr altLang="en-US" lang="ru-RU"/>
              <a:t>о</a:t>
            </a:r>
            <a:r>
              <a:rPr altLang="en-US" lang="ru-RU"/>
              <a:t>р</a:t>
            </a:r>
            <a:r>
              <a:rPr altLang="en-US" lang="ru-RU"/>
              <a:t>е</a:t>
            </a:r>
            <a:r>
              <a:rPr altLang="en-US" lang="ru-RU"/>
              <a:t>т</a:t>
            </a:r>
            <a:r>
              <a:rPr altLang="en-US" lang="ru-RU"/>
              <a:t>и</a:t>
            </a:r>
            <a:r>
              <a:rPr altLang="en-US" lang="ru-RU"/>
              <a:t>ч</a:t>
            </a:r>
            <a:r>
              <a:rPr altLang="en-US" lang="ru-RU"/>
              <a:t>е</a:t>
            </a:r>
            <a:r>
              <a:rPr altLang="en-US" lang="ru-RU"/>
              <a:t>ская </a:t>
            </a:r>
            <a:r>
              <a:rPr altLang="en-US" lang="ru-RU"/>
              <a:t>ч</a:t>
            </a:r>
            <a:r>
              <a:rPr altLang="en-US" lang="ru-RU"/>
              <a:t>а</a:t>
            </a:r>
            <a:r>
              <a:rPr altLang="en-US" lang="ru-RU"/>
              <a:t>с</a:t>
            </a:r>
            <a:r>
              <a:rPr altLang="en-US" lang="ru-RU"/>
              <a:t>т</a:t>
            </a:r>
            <a:r>
              <a:rPr altLang="en-US" lang="ru-RU"/>
              <a:t>ь</a:t>
            </a:r>
            <a:endParaRPr lang="ru-RU"/>
          </a:p>
        </p:txBody>
      </p:sp>
      <p:sp>
        <p:nvSpPr>
          <p:cNvPr id="1048713" name=""/>
          <p:cNvSpPr>
            <a:spLocks noGrp="1"/>
          </p:cNvSpPr>
          <p:nvPr>
            <p:ph idx="1"/>
          </p:nvPr>
        </p:nvSpPr>
        <p:spPr>
          <a:xfrm>
            <a:off x="677334" y="1545927"/>
            <a:ext cx="7495049" cy="4495435"/>
          </a:xfrm>
        </p:spPr>
        <p:txBody>
          <a:bodyPr>
            <a:normAutofit/>
          </a:bodyPr>
          <a:p>
            <a:r>
              <a:rPr altLang="en-US" lang="ru-RU"/>
              <a:t>Принципы работы электромиографии:</a:t>
            </a:r>
            <a:endParaRPr lang="ru-RU"/>
          </a:p>
          <a:p>
            <a:r>
              <a:rPr altLang="en-US" lang="ru-RU"/>
              <a:t>Электромиография - это метод исследования, который позволяет регистрировать электрическую активность мышц. Для проведения электромиографического исследования используются электроды, которые размещаются на коже над мышцами. Электроды регистрируют электрическую активность мышц в виде сигнала, который затем анализируется. При сокращении мышц происходит электрическая активация мышечных волокон, что приводит к изменению потенциала на поверхности кожи. Электроды регистрируют эти электрические сигналы, которые затем анализируются для оценки активности мышц.</a:t>
            </a:r>
            <a:endParaRPr lang="ru-RU"/>
          </a:p>
          <a:p>
            <a:r>
              <a:rPr altLang="en-US" lang="ru-RU"/>
              <a:t> Активность мышц у подростков:</a:t>
            </a:r>
            <a:endParaRPr lang="ru-RU"/>
          </a:p>
          <a:p>
            <a:r>
              <a:rPr altLang="en-US" lang="ru-RU"/>
              <a:t>В подростковом возрасте происходит интенсивное развитие мышц, связанное с ростом и физической активностью. Силовые тренировки имеют особое значение для развития мышц у подростков. Исследования показывают, что силовые тренировки способствуют укреплению и развитию мышц, повышают их силу и выносливость.</a:t>
            </a:r>
            <a:endParaRPr lang="ru-RU"/>
          </a:p>
        </p:txBody>
      </p:sp>
      <p:pic>
        <p:nvPicPr>
          <p:cNvPr id="2097158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8172382" y="1864773"/>
            <a:ext cx="3629569" cy="3384722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ru-RU"/>
              <a:t>П</a:t>
            </a:r>
            <a:r>
              <a:rPr altLang="en-US" lang="ru-RU"/>
              <a:t>р</a:t>
            </a:r>
            <a:r>
              <a:rPr altLang="en-US" lang="ru-RU"/>
              <a:t>и</a:t>
            </a:r>
            <a:r>
              <a:rPr altLang="en-US" lang="ru-RU"/>
              <a:t>м</a:t>
            </a:r>
            <a:r>
              <a:rPr altLang="en-US" lang="ru-RU"/>
              <a:t>е</a:t>
            </a:r>
            <a:r>
              <a:rPr altLang="en-US" lang="ru-RU"/>
              <a:t>н</a:t>
            </a:r>
            <a:r>
              <a:rPr altLang="en-US" lang="ru-RU"/>
              <a:t>е</a:t>
            </a:r>
            <a:r>
              <a:rPr altLang="en-US" lang="ru-RU"/>
              <a:t>н</a:t>
            </a:r>
            <a:r>
              <a:rPr altLang="en-US" lang="ru-RU"/>
              <a:t>и</a:t>
            </a:r>
            <a:r>
              <a:rPr altLang="en-US" lang="ru-RU"/>
              <a:t>е</a:t>
            </a:r>
            <a:endParaRPr lang="ru-RU"/>
          </a:p>
        </p:txBody>
      </p:sp>
      <p:sp>
        <p:nvSpPr>
          <p:cNvPr id="1048719" name=""/>
          <p:cNvSpPr>
            <a:spLocks noGrp="1"/>
          </p:cNvSpPr>
          <p:nvPr>
            <p:ph idx="1"/>
          </p:nvPr>
        </p:nvSpPr>
        <p:spPr>
          <a:xfrm rot="21600000">
            <a:off x="677333" y="1441852"/>
            <a:ext cx="9450490" cy="4926624"/>
          </a:xfrm>
        </p:spPr>
        <p:txBody>
          <a:bodyPr>
            <a:normAutofit fontScale="77778" lnSpcReduction="20000"/>
          </a:bodyPr>
          <a:p>
            <a:r>
              <a:rPr lang="en-US"/>
              <a:t>1) Диагностика мышечных заболеваний:</a:t>
            </a:r>
            <a:endParaRPr lang="ru-RU"/>
          </a:p>
          <a:p>
            <a:r>
              <a:rPr lang="en-US"/>
              <a:t> Электромиография позволяет оценить электрическую активность мышц и выявить нарушения в их функционировании. Это может помочь в диагностике различных мышечных заболеваний, таких как мышечная дистрофия, миастения гравис, паралич Белла и другие.</a:t>
            </a:r>
            <a:endParaRPr lang="ru-RU"/>
          </a:p>
          <a:p>
            <a:r>
              <a:rPr lang="en-US"/>
              <a:t>2)Оценка мышечного развития:</a:t>
            </a:r>
            <a:endParaRPr lang="ru-RU"/>
          </a:p>
          <a:p>
            <a:r>
              <a:rPr lang="en-US"/>
              <a:t> Электромиография может быть использована для измерения силы и активности мышц у подростков. Это помогает оценить уровень мышечного развития и выявить возможные дисбалансы или слабые зоны, которые могут быть скорректированы с помощью соответствующих упражнений и тренировок.</a:t>
            </a:r>
            <a:endParaRPr lang="ru-RU"/>
          </a:p>
          <a:p>
            <a:r>
              <a:rPr lang="en-US"/>
              <a:t>3)Исследование физиологии мышц:</a:t>
            </a:r>
            <a:endParaRPr lang="ru-RU"/>
          </a:p>
          <a:p>
            <a:r>
              <a:rPr lang="en-US"/>
              <a:t> Электромиография также может быть использована для изучения физиологии мышц у подростков. Она позволяет измерить активность мышц в различных условиях, например, во время физической активности, покоя или реабилитации после травмы. Это помогает ученым лучше понять, как мышцы функционируют и адаптируются к различным стимулам.</a:t>
            </a:r>
            <a:endParaRPr lang="ru-RU"/>
          </a:p>
          <a:p>
            <a:r>
              <a:rPr lang="en-US"/>
              <a:t>4) Оценка эффективности лечения:</a:t>
            </a:r>
            <a:endParaRPr lang="ru-RU"/>
          </a:p>
          <a:p>
            <a:r>
              <a:rPr lang="en-US"/>
              <a:t> Электромиография может быть полезна для оценки эффективности лечения мышечных заболеваний у подростков. Она позволяет отслеживать изменения в активности мышц и силе после применения определенных методов лечения, таких как физиотерапия, массаж или лекарственная терапия.</a:t>
            </a:r>
            <a:endParaRPr lang="ru-RU"/>
          </a:p>
          <a:p>
            <a:r>
              <a:rPr lang="en-US"/>
              <a:t>5)Оптимизация физической активности:</a:t>
            </a:r>
            <a:endParaRPr lang="ru-RU"/>
          </a:p>
          <a:p>
            <a:r>
              <a:rPr lang="en-US"/>
              <a:t> Электромиография может помочь оптимизировать физическую активность у подростков. Измерение активности мышц во время различных упражнений и тренировок позволяет определить наиболее эффективные методы тренировки и управления нагрузкой для достижения оптимальных результатов.</a:t>
            </a:r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ru-RU"/>
              <a:t>Т</a:t>
            </a:r>
            <a:r>
              <a:rPr altLang="en-US" lang="ru-RU"/>
              <a:t>е</a:t>
            </a:r>
            <a:r>
              <a:rPr altLang="en-US" lang="ru-RU"/>
              <a:t>оретическая </a:t>
            </a:r>
            <a:r>
              <a:rPr altLang="en-US" lang="ru-RU"/>
              <a:t>ч</a:t>
            </a:r>
            <a:r>
              <a:rPr altLang="en-US" lang="ru-RU"/>
              <a:t>а</a:t>
            </a:r>
            <a:r>
              <a:rPr altLang="en-US" lang="ru-RU"/>
              <a:t>с</a:t>
            </a:r>
            <a:r>
              <a:rPr altLang="en-US" lang="ru-RU"/>
              <a:t>т</a:t>
            </a:r>
            <a:r>
              <a:rPr altLang="en-US" lang="ru-RU"/>
              <a:t>ь</a:t>
            </a:r>
            <a:endParaRPr lang="ru-RU"/>
          </a:p>
        </p:txBody>
      </p:sp>
      <p:sp>
        <p:nvSpPr>
          <p:cNvPr id="1048717" name=""/>
          <p:cNvSpPr>
            <a:spLocks noGrp="1"/>
          </p:cNvSpPr>
          <p:nvPr>
            <p:ph idx="1"/>
          </p:nvPr>
        </p:nvSpPr>
        <p:spPr>
          <a:xfrm>
            <a:off x="677334" y="2160589"/>
            <a:ext cx="7678320" cy="3880773"/>
          </a:xfrm>
        </p:spPr>
        <p:txBody>
          <a:bodyPr>
            <a:normAutofit fontScale="66667" lnSpcReduction="20000"/>
          </a:bodyPr>
          <a:p>
            <a:r>
              <a:rPr lang="en-US"/>
              <a:t>1.3. Программно-аппаратный комплекс Бослаб</a:t>
            </a:r>
            <a:endParaRPr lang="ru-RU"/>
          </a:p>
          <a:p>
            <a:r>
              <a:rPr lang="en-US"/>
              <a:t>Программный комплекс Бослаб – программа, использующаяся для лечения и реабилитации большого количества заболеваний методом биоуправления.</a:t>
            </a:r>
            <a:endParaRPr lang="ru-RU"/>
          </a:p>
          <a:p>
            <a:r>
              <a:rPr lang="en-US"/>
              <a:t>Комплекс состоит из:</a:t>
            </a:r>
            <a:endParaRPr lang="ru-RU"/>
          </a:p>
          <a:p>
            <a:r>
              <a:rPr lang="en-US"/>
              <a:t>Программы «Бослаб Юниор».</a:t>
            </a:r>
            <a:endParaRPr lang="ru-RU"/>
          </a:p>
          <a:p>
            <a:r>
              <a:rPr lang="en-US"/>
              <a:t>USB-адаптера беспроводной связи.</a:t>
            </a:r>
            <a:endParaRPr lang="ru-RU"/>
          </a:p>
          <a:p>
            <a:r>
              <a:rPr lang="en-US"/>
              <a:t>Датчиков ЭМГ и ЭЭГ.</a:t>
            </a:r>
            <a:endParaRPr lang="ru-RU"/>
          </a:p>
          <a:p>
            <a:r>
              <a:rPr lang="en-US"/>
              <a:t>Беспроводных модулей ЭЭГ и ЭМГ.</a:t>
            </a:r>
            <a:endParaRPr lang="ru-RU"/>
          </a:p>
          <a:p>
            <a:r>
              <a:rPr lang="en-US"/>
              <a:t>Подключение датчиков:</a:t>
            </a:r>
            <a:endParaRPr lang="ru-RU"/>
          </a:p>
          <a:p>
            <a:r>
              <a:rPr lang="en-US"/>
              <a:t>Подключение Bluetooth адаптера в порт компьютера.</a:t>
            </a:r>
            <a:endParaRPr lang="ru-RU"/>
          </a:p>
          <a:p>
            <a:r>
              <a:rPr lang="en-US"/>
              <a:t>Подключить к беспроводным модулям соответствующие датчики.</a:t>
            </a:r>
            <a:endParaRPr lang="ru-RU"/>
          </a:p>
          <a:p>
            <a:r>
              <a:rPr lang="en-US"/>
              <a:t>Наложить электроды датчиков на пациента при помощи одноразовых поверхностных электродов(ЭМГ) или электропроводной пасты(ЭЭГ)</a:t>
            </a:r>
            <a:endParaRPr lang="ru-RU"/>
          </a:p>
          <a:p>
            <a:r>
              <a:rPr lang="en-US"/>
              <a:t>После этого можно приступать к использовании программы Бослаб:</a:t>
            </a:r>
            <a:endParaRPr lang="ru-RU"/>
          </a:p>
          <a:p>
            <a:r>
              <a:rPr lang="en-US"/>
              <a:t>Запускаем программу, создаем нового пациента, затем создаем курс, в котором создаем новый сеанс. После во вкладке сессий указываем нужный нам шаблон сеанса. После перечисленных действий нажимаем на кнопку Старт, после чего наблюдаем мониторинг напряжения мышц.</a:t>
            </a:r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ru-RU" smtClean="0"/>
              <a:t>Проведение исследования</a:t>
            </a:r>
            <a:endParaRPr dirty="0" lang="ru-RU"/>
          </a:p>
        </p:txBody>
      </p:sp>
      <p:sp>
        <p:nvSpPr>
          <p:cNvPr id="1048597" name="Объект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ru-RU"/>
              <a:t>Мы выбрали 5 подростков среднего телосложения, роста и веса. Это позволит нам получить показательность данных и обобщить результаты на более широкую группу подростков.</a:t>
            </a:r>
            <a:endParaRPr dirty="0" lang="ru-RU"/>
          </a:p>
        </p:txBody>
      </p:sp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ru-RU" smtClean="0"/>
              <a:t>Показания первого испытуемого</a:t>
            </a:r>
            <a:endParaRPr dirty="0" lang="ru-RU"/>
          </a:p>
        </p:txBody>
      </p:sp>
      <p:pic>
        <p:nvPicPr>
          <p:cNvPr id="2097152" name="Объект 5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978271" y="1270000"/>
            <a:ext cx="6286500" cy="4734520"/>
          </a:xfrm>
        </p:spPr>
      </p:pic>
    </p:spTree>
  </p:cSld>
  <p:clrMapOvr>
    <a:masterClrMapping/>
  </p:clrMapOvr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ru-RU" smtClean="0"/>
              <a:t>Показания второго испытуемого</a:t>
            </a:r>
            <a:endParaRPr dirty="0" lang="ru-RU"/>
          </a:p>
        </p:txBody>
      </p:sp>
      <p:pic>
        <p:nvPicPr>
          <p:cNvPr id="2097153" name="Объект 3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652955" y="1340339"/>
            <a:ext cx="6392007" cy="4813981"/>
          </a:xfrm>
        </p:spPr>
      </p:pic>
    </p:spTree>
  </p:cSld>
  <p:clrMapOvr>
    <a:masterClrMapping/>
  </p:clrMapOvr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ru-RU" smtClean="0"/>
              <a:t>Показания третьего испытуемого</a:t>
            </a:r>
            <a:endParaRPr dirty="0" lang="ru-RU"/>
          </a:p>
        </p:txBody>
      </p:sp>
      <p:pic>
        <p:nvPicPr>
          <p:cNvPr id="2097154" name="Объект 3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77334" y="1930400"/>
            <a:ext cx="8596312" cy="3868340"/>
          </a:xfrm>
        </p:spPr>
      </p:pic>
    </p:spTree>
  </p:cSld>
  <p:clrMapOvr>
    <a:masterClrMapping/>
  </p:clrMapOvr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ru-RU" smtClean="0"/>
              <a:t>Показания четвертого испытуемого</a:t>
            </a:r>
            <a:endParaRPr dirty="0" lang="ru-RU"/>
          </a:p>
        </p:txBody>
      </p:sp>
      <p:pic>
        <p:nvPicPr>
          <p:cNvPr id="2097155" name="Объект 3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814833" y="2037495"/>
            <a:ext cx="6321669" cy="4354512"/>
          </a:xfrm>
        </p:spPr>
      </p:pic>
    </p:spTree>
  </p:cSld>
  <p:clrMapOvr>
    <a:masterClrMapping/>
  </p:clrMapOvr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ru-RU" smtClean="0"/>
              <a:t>Показания пятого испытуемого</a:t>
            </a:r>
            <a:endParaRPr dirty="0" lang="ru-RU"/>
          </a:p>
        </p:txBody>
      </p:sp>
      <p:pic>
        <p:nvPicPr>
          <p:cNvPr id="2097156" name="Объект 3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02017" y="1930400"/>
            <a:ext cx="8596312" cy="3868340"/>
          </a:xfrm>
        </p:spPr>
      </p:pic>
    </p:spTree>
  </p:cSld>
  <p:clrMapOvr>
    <a:masterClrMapping/>
  </p:clrMapOvr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ru-RU"/>
              <a:t>И</a:t>
            </a:r>
            <a:r>
              <a:rPr altLang="en-US" lang="ru-RU"/>
              <a:t>т</a:t>
            </a:r>
            <a:r>
              <a:rPr altLang="en-US" lang="ru-RU"/>
              <a:t>о</a:t>
            </a:r>
            <a:r>
              <a:rPr altLang="en-US" lang="ru-RU"/>
              <a:t>г</a:t>
            </a:r>
            <a:r>
              <a:rPr altLang="en-US" lang="ru-RU"/>
              <a:t>и</a:t>
            </a:r>
            <a:endParaRPr lang="ru-RU"/>
          </a:p>
        </p:txBody>
      </p:sp>
      <p:sp>
        <p:nvSpPr>
          <p:cNvPr id="1048721" name=""/>
          <p:cNvSpPr>
            <a:spLocks noGrp="1"/>
          </p:cNvSpPr>
          <p:nvPr>
            <p:ph idx="1"/>
          </p:nvPr>
        </p:nvSpPr>
        <p:spPr>
          <a:xfrm rot="21600000">
            <a:off x="677334" y="1552427"/>
            <a:ext cx="9319133" cy="4488934"/>
          </a:xfrm>
        </p:spPr>
        <p:txBody>
          <a:bodyPr>
            <a:normAutofit/>
          </a:bodyPr>
          <a:p>
            <a:r>
              <a:rPr altLang="en-US" lang="ru-RU"/>
              <a:t>Полученные результаты показали, что у первого, третьего и четвертого  подростка активность мышц была примерно одинаковой. Это может указывать на схожую физическую подготовку и уровень тренированности этих подростков. У одного из подростков наблюдалось немного более высокое значение активности мышц. Возможно, это связано с более интенсивной физической активностью или с особенностями его мышц.</a:t>
            </a:r>
            <a:endParaRPr lang="ru-RU"/>
          </a:p>
          <a:p>
            <a:r>
              <a:rPr altLang="en-US" lang="ru-RU"/>
              <a:t>Однако, у одного из подростков было зафиксировано очень низкое значение активности мышц. Это может указывать на недостаточную развитость или слабость мышц у данного подростка. Возможно, это связано с недостатком физической активности или с какими-то особенностями его организма. </a:t>
            </a:r>
            <a:endParaRPr lang="ru-RU"/>
          </a:p>
          <a:p>
            <a:r>
              <a:rPr altLang="en-US" lang="ru-RU"/>
              <a:t>После проведения и анализа испытания мы узнали, что у одного испытуемого значение порога меньше среднего(значение),поэтому мы предоставили рекомендации к занятию спортом. </a:t>
            </a:r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ru-RU"/>
              <a:t>Р</a:t>
            </a:r>
            <a:r>
              <a:rPr altLang="en-US" lang="ru-RU"/>
              <a:t>е</a:t>
            </a:r>
            <a:r>
              <a:rPr altLang="en-US" lang="ru-RU"/>
              <a:t>к</a:t>
            </a:r>
            <a:r>
              <a:rPr altLang="en-US" lang="ru-RU"/>
              <a:t>о</a:t>
            </a:r>
            <a:r>
              <a:rPr altLang="en-US" lang="ru-RU"/>
              <a:t>м</a:t>
            </a:r>
            <a:r>
              <a:rPr altLang="en-US" lang="ru-RU"/>
              <a:t>е</a:t>
            </a:r>
            <a:r>
              <a:rPr altLang="en-US" lang="ru-RU"/>
              <a:t>н</a:t>
            </a:r>
            <a:r>
              <a:rPr altLang="en-US" lang="ru-RU"/>
              <a:t>дации </a:t>
            </a:r>
            <a:r>
              <a:rPr altLang="en-US" lang="ru-RU"/>
              <a:t>д</a:t>
            </a:r>
            <a:r>
              <a:rPr altLang="en-US" lang="ru-RU"/>
              <a:t>л</a:t>
            </a:r>
            <a:r>
              <a:rPr altLang="en-US" lang="ru-RU"/>
              <a:t>я</a:t>
            </a:r>
            <a:r>
              <a:rPr altLang="en-US" lang="en-US"/>
              <a:t> </a:t>
            </a:r>
            <a:r>
              <a:rPr altLang="en-US" lang="en-US"/>
              <a:t>3</a:t>
            </a:r>
            <a:r>
              <a:rPr altLang="en-US" lang="en-US"/>
              <a:t>-</a:t>
            </a:r>
            <a:r>
              <a:rPr altLang="en-US" lang="ru-RU"/>
              <a:t>г</a:t>
            </a:r>
            <a:r>
              <a:rPr altLang="en-US" lang="ru-RU"/>
              <a:t>о</a:t>
            </a:r>
            <a:r>
              <a:rPr altLang="en-US" lang="en-US"/>
              <a:t> </a:t>
            </a:r>
            <a:r>
              <a:rPr altLang="en-US" lang="ru-RU"/>
              <a:t>и</a:t>
            </a:r>
            <a:r>
              <a:rPr altLang="en-US" lang="ru-RU"/>
              <a:t>с</a:t>
            </a:r>
            <a:r>
              <a:rPr altLang="en-US" lang="ru-RU"/>
              <a:t>п</a:t>
            </a:r>
            <a:r>
              <a:rPr altLang="en-US" lang="ru-RU"/>
              <a:t>ы</a:t>
            </a:r>
            <a:r>
              <a:rPr altLang="en-US" lang="ru-RU"/>
              <a:t>т</a:t>
            </a:r>
            <a:r>
              <a:rPr altLang="en-US" lang="ru-RU"/>
              <a:t>у</a:t>
            </a:r>
            <a:r>
              <a:rPr altLang="en-US" lang="ru-RU"/>
              <a:t>е</a:t>
            </a:r>
            <a:r>
              <a:rPr altLang="en-US" lang="ru-RU"/>
              <a:t>м</a:t>
            </a:r>
            <a:r>
              <a:rPr altLang="en-US" lang="ru-RU"/>
              <a:t>о</a:t>
            </a:r>
            <a:r>
              <a:rPr altLang="en-US" lang="ru-RU"/>
              <a:t>г</a:t>
            </a:r>
            <a:r>
              <a:rPr altLang="en-US" lang="ru-RU"/>
              <a:t>о</a:t>
            </a:r>
            <a:endParaRPr lang="ru-RU"/>
          </a:p>
        </p:txBody>
      </p:sp>
      <p:sp>
        <p:nvSpPr>
          <p:cNvPr id="1048724" name=""/>
          <p:cNvSpPr>
            <a:spLocks noGrp="1"/>
          </p:cNvSpPr>
          <p:nvPr>
            <p:ph idx="1"/>
          </p:nvPr>
        </p:nvSpPr>
        <p:spPr>
          <a:xfrm>
            <a:off x="369212" y="1391247"/>
            <a:ext cx="8904790" cy="4075505"/>
          </a:xfrm>
        </p:spPr>
        <p:txBody>
          <a:bodyPr/>
          <a:p>
            <a:r>
              <a:rPr altLang="en-US" lang="ru-RU"/>
              <a:t>Рекомендуется проконсультироваться с врачом или тренером. Это поможет разработать индивидуальную программу тренировок и учитывать особенности его физического развития.Важно включить в программу тренировок разнообразные упражнения, которые развивают различные группы мышц. Это поможет укрепить слабые мышцы и сбалансировать их развитие. При начале тренировок рекомендуется выбирать умеренную интенсивность, чтобы избежать перенапряжения слабых мышц и возможных травм. Постепенно увеличивайте интенсивность тренировок по мере укрепления мышц. Также важно поддерживать регулярность тренировок, чтобы достичь прогресса. Рекомендуется тренироваться не менее 3-4 раз в неделю, уделяя внимание как укреплению слабых мышц, так и общей физической активности.</a:t>
            </a:r>
            <a:endParaRPr lang="ru-RU"/>
          </a:p>
          <a:p>
            <a:endParaRPr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ru-RU" smtClean="0"/>
              <a:t>Вывод</a:t>
            </a:r>
            <a:endParaRPr dirty="0" lang="ru-RU"/>
          </a:p>
        </p:txBody>
      </p:sp>
      <p:sp>
        <p:nvSpPr>
          <p:cNvPr id="1048623" name="Объект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ru-RU"/>
              <a:t>Программа "</a:t>
            </a:r>
            <a:r>
              <a:rPr dirty="0" lang="ru-RU" err="1"/>
              <a:t>Бослаб</a:t>
            </a:r>
            <a:r>
              <a:rPr dirty="0" lang="ru-RU"/>
              <a:t>" является мощным инструментом для тренировки и анализа физических </a:t>
            </a:r>
            <a:r>
              <a:rPr dirty="0" lang="ru-RU" smtClean="0"/>
              <a:t>возможностей, ознакомившись с основными возможностями программы и уже с помощью нее мы смогли провести </a:t>
            </a:r>
            <a:r>
              <a:rPr dirty="0" lang="ru-RU" err="1" smtClean="0"/>
              <a:t>электромиографическое</a:t>
            </a:r>
            <a:r>
              <a:rPr dirty="0" lang="ru-RU" smtClean="0"/>
              <a:t> исследование, которое прошло успешно.</a:t>
            </a:r>
            <a:br>
              <a:rPr dirty="0" lang="ru-RU" smtClean="0"/>
            </a:br>
            <a:r>
              <a:rPr dirty="0" lang="ru-RU" smtClean="0"/>
              <a:t> Таким образом, </a:t>
            </a:r>
            <a:r>
              <a:rPr dirty="0" lang="ru-RU"/>
              <a:t>наш проект позволил нам ознакомиться с программой "</a:t>
            </a:r>
            <a:r>
              <a:rPr dirty="0" lang="ru-RU" err="1"/>
              <a:t>Бослаб</a:t>
            </a:r>
            <a:r>
              <a:rPr dirty="0" lang="ru-RU"/>
              <a:t>", провести тестирование ее эффективности, использовать метод электромиографии для получения дополнительных данных и предоставить рекомендации по занятиям спортом для участника с нижним уровнем ЭМГ</a:t>
            </a:r>
            <a:endParaRPr dirty="0" lang="ru-RU"/>
          </a:p>
        </p:txBody>
      </p:sp>
    </p:spTree>
  </p:cSld>
  <p:clrMapOvr>
    <a:masterClrMapping/>
  </p:clrMapOvr>
  <p:timing/>
</p:sld>
</file>

<file path=ppt/theme/theme1.xml><?xml version="1.0" encoding="utf-8"?>
<a:theme xmlns:a="http://schemas.openxmlformats.org/drawingml/2006/main" name="Аспект">
  <a:themeElements>
    <a:clrScheme name="Аспект">
      <a:dk1>
        <a:sysClr lastClr="000000" val="windowText"/>
      </a:dk1>
      <a:lt1>
        <a:sysClr lastClr="FFFFFF" val="window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r="5400000" dist="254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r="5400000" dist="381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l" rig="threePt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Электромиографическое исследование состояния мышц(Кто сильнее)</dc:title>
  <dc:creator>User</dc:creator>
  <cp:lastModifiedBy>User</cp:lastModifiedBy>
  <dcterms:created xsi:type="dcterms:W3CDTF">2023-12-25T22:13:18Z</dcterms:created>
  <dcterms:modified xsi:type="dcterms:W3CDTF">2023-12-27T06:00:16Z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f74e20b915864c3ab473e82dcc59e123</vt:lpwstr>
  </property>
</Properties>
</file>